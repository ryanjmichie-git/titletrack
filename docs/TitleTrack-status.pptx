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COMMUNITY IMPACT LAB  ·  PROJECT STATUS  ·  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TitleTrack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AI actually do — and be trusted to do — for New York City’s public workforce?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3639312" cy="3749040"/>
          </a:xfrm>
          <a:prstGeom prst="roundRect">
            <a:avLst>
              <a:gd name="adj" fmla="val 2513"/>
            </a:avLst>
          </a:prstGeom>
          <a:solidFill>
            <a:srgbClr val="1E41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523744"/>
            <a:ext cx="603504" cy="603504"/>
          </a:xfrm>
          <a:prstGeom prst="ellipse">
            <a:avLst/>
          </a:prstGeom>
          <a:solidFill>
            <a:srgbClr val="E8641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159" y="2680655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328416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3749040"/>
            <a:ext cx="30540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pays 550,219 people under 1,557 job titles that routinely hide the real work — the city’s single largest “title” is not a job at all. Agencies are being sold AI-readiness scores that no one can check against reality.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43984" y="2212848"/>
            <a:ext cx="3639312" cy="3749040"/>
          </a:xfrm>
          <a:prstGeom prst="roundRect">
            <a:avLst>
              <a:gd name="adj" fmla="val 2513"/>
            </a:avLst>
          </a:prstGeom>
          <a:solidFill>
            <a:srgbClr val="1E41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36592" y="2523744"/>
            <a:ext cx="603504" cy="603504"/>
          </a:xfrm>
          <a:prstGeom prst="ellipse">
            <a:avLst/>
          </a:prstGeom>
          <a:solidFill>
            <a:srgbClr val="E8641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503" y="2680655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3328416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36592" y="3749040"/>
            <a:ext cx="30540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open, evidence-first crosswalk — payroll titles → civil-service exams → O*NET occupations — plus a rubric that separates “a model can produce this output” from “a model can be trusted with it unsupervised.”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339328" y="2212848"/>
            <a:ext cx="3639312" cy="3749040"/>
          </a:xfrm>
          <a:prstGeom prst="roundRect">
            <a:avLst>
              <a:gd name="adj" fmla="val 2513"/>
            </a:avLst>
          </a:prstGeom>
          <a:solidFill>
            <a:srgbClr val="1E416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31936" y="2523744"/>
            <a:ext cx="603504" cy="603504"/>
          </a:xfrm>
          <a:prstGeom prst="ellipse">
            <a:avLst/>
          </a:prstGeom>
          <a:solidFill>
            <a:srgbClr val="E8641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847" y="2680655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31936" y="3328416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community value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631936" y="3749040"/>
            <a:ext cx="30540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public map of where AI genuinely helps city work — and where authority must stay with an accountable human. In public agencies those differ, and naming that gap honestly is what protects New Yorkers.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github.com/ryanjmichie-git/TitleTrack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stands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that protect NYC from bad AI math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6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78,618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103120" y="1655064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sit under the city’s largest payroll “title” — a pay code, not a job. Coding it as work double-counts the teaching workforce.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596896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6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30.1%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103120" y="2624328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top-40 headcount is not an occupation at all (poll workers, hiring categories). Excluding it is accuracy — a finding, not a gap.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6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40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2103120" y="3593592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title→occupation calls decided, evidence on record — including 3 errors in our own docs, found and fixed by our own checks.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EAF1F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773168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already built: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6.8M payroll rows · 2,901 exams · O*NET 30.3 occupations · byte-reproducible data builds on any machine · scoring rubric v0.1 with 5 hand-scored tasks and its ambiguities documented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55080" y="1188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custom Claude agents — each with a spec, golden tests, hard gates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5080" y="1664208"/>
            <a:ext cx="5303520" cy="2029968"/>
          </a:xfrm>
          <a:prstGeom prst="roundRect">
            <a:avLst>
              <a:gd name="adj" fmla="val 4505"/>
            </a:avLst>
          </a:prstGeom>
          <a:solidFill>
            <a:srgbClr val="EAF1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592824" y="1901952"/>
            <a:ext cx="475488" cy="475488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6451" y="2025579"/>
            <a:ext cx="228234" cy="22823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22376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title-matcher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92824" y="2505456"/>
            <a:ext cx="48006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exam titles to payroll titles without ever forcing one. 54 golden cases drawn from the real join residuals. The fuzzy baseline scores 37/41 recall — and FAILS with 12 corrupt matches. Wrong answers fail the run; misses only cost recall.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55080" y="3840480"/>
            <a:ext cx="5303520" cy="2029968"/>
          </a:xfrm>
          <a:prstGeom prst="roundRect">
            <a:avLst>
              <a:gd name="adj" fmla="val 4505"/>
            </a:avLst>
          </a:prstGeom>
          <a:solidFill>
            <a:srgbClr val="EAF1F8"/>
          </a:solidFill>
          <a:ln/>
        </p:spPr>
      </p:sp>
      <p:sp>
        <p:nvSpPr>
          <p:cNvPr id="19" name="Shape 16"/>
          <p:cNvSpPr/>
          <p:nvPr/>
        </p:nvSpPr>
        <p:spPr>
          <a:xfrm>
            <a:off x="6592824" y="4078224"/>
            <a:ext cx="475488" cy="475488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451" y="4201851"/>
            <a:ext cx="228234" cy="22823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23760" y="4114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crosswalk-decider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592824" y="4681728"/>
            <a:ext cx="48006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titles into occupation codes with evidence ranked above word-similarity. Graded against our 13 human decisions, and required to answer BLOCKED when the deciding fact is not in the data. Baselines fail in both directions — by design.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information from the O*NET 30.3 Database by USDOL/ETA. Used under the CC BY 4.0 license. O*NET® is a trademark of USDOL/ETA. TitleTrack has modified all or some of this information; USDOL/ETA has not approved, endorsed, or tested these modifications.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ahead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591056" y="1883664"/>
            <a:ext cx="9006840" cy="0"/>
          </a:xfrm>
          <a:prstGeom prst="line">
            <a:avLst/>
          </a:prstGeom>
          <a:noFill/>
          <a:ln w="31750">
            <a:solidFill>
              <a:srgbClr val="C9D6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1600200"/>
            <a:ext cx="566928" cy="566928"/>
          </a:xfrm>
          <a:prstGeom prst="ellipse">
            <a:avLst/>
          </a:prstGeom>
          <a:solidFill>
            <a:srgbClr val="E8641B"/>
          </a:solidFill>
          <a:ln/>
        </p:spPr>
      </p:sp>
      <p:sp>
        <p:nvSpPr>
          <p:cNvPr id="5" name="Text 3"/>
          <p:cNvSpPr/>
          <p:nvPr/>
        </p:nvSpPr>
        <p:spPr>
          <a:xfrm>
            <a:off x="1307592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Unblock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7919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6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" y="3017520"/>
            <a:ext cx="1975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API query (agency × title) closes LIEUTENANT and confirms two more calls. Needs any laptop — the sandbox blocks NYC Open Data.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59302" y="1600200"/>
            <a:ext cx="566928" cy="566928"/>
          </a:xfrm>
          <a:prstGeom prst="ellipse">
            <a:avLst/>
          </a:prstGeom>
          <a:solidFill>
            <a:srgbClr val="E8641B"/>
          </a:solidFill>
          <a:ln/>
        </p:spPr>
      </p:sp>
      <p:sp>
        <p:nvSpPr>
          <p:cNvPr id="10" name="Text 8"/>
          <p:cNvSpPr/>
          <p:nvPr/>
        </p:nvSpPr>
        <p:spPr>
          <a:xfrm>
            <a:off x="3559302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00350" y="233172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00350" y="267919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6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55214" y="3017520"/>
            <a:ext cx="1975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crosswalk-decider on the 27 open titles; a human signs off on every verdict.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11012" y="1600200"/>
            <a:ext cx="566928" cy="566928"/>
          </a:xfrm>
          <a:prstGeom prst="ellipse">
            <a:avLst/>
          </a:prstGeom>
          <a:solidFill>
            <a:srgbClr val="E8641B"/>
          </a:solidFill>
          <a:ln/>
        </p:spPr>
      </p:sp>
      <p:sp>
        <p:nvSpPr>
          <p:cNvPr id="15" name="Text 13"/>
          <p:cNvSpPr/>
          <p:nvPr/>
        </p:nvSpPr>
        <p:spPr>
          <a:xfrm>
            <a:off x="5811012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52060" y="233172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52060" y="267919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6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06924" y="3017520"/>
            <a:ext cx="1975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civil-service insider checks our title decodings; counsel reviews the rubric’s legal “authority” tests.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2722" y="1600200"/>
            <a:ext cx="566928" cy="566928"/>
          </a:xfrm>
          <a:prstGeom prst="ellipse">
            <a:avLst/>
          </a:prstGeom>
          <a:solidFill>
            <a:srgbClr val="E8641B"/>
          </a:solidFill>
          <a:ln/>
        </p:spPr>
      </p:sp>
      <p:sp>
        <p:nvSpPr>
          <p:cNvPr id="20" name="Text 18"/>
          <p:cNvSpPr/>
          <p:nvPr/>
        </p:nvSpPr>
        <p:spPr>
          <a:xfrm>
            <a:off x="8062722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03770" y="233172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03770" y="267919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6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58634" y="3017520"/>
            <a:ext cx="1975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title-matcher lifts occupation coverage past 32.3% of headcount — with zero forced matches.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14432" y="1600200"/>
            <a:ext cx="566928" cy="566928"/>
          </a:xfrm>
          <a:prstGeom prst="ellipse">
            <a:avLst/>
          </a:prstGeom>
          <a:solidFill>
            <a:srgbClr val="E8641B"/>
          </a:solidFill>
          <a:ln/>
        </p:spPr>
      </p:sp>
      <p:sp>
        <p:nvSpPr>
          <p:cNvPr id="25" name="Text 23"/>
          <p:cNvSpPr/>
          <p:nvPr/>
        </p:nvSpPr>
        <p:spPr>
          <a:xfrm>
            <a:off x="10314432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55480" y="233172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55480" y="267919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6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5+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10344" y="3017520"/>
            <a:ext cx="1975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v0.2, task scoring at volume, and an agency-facing report with a live demo.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AF1F8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the team owns (not Claude):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classify task statements that name no consequence (rubric ambiguity A2)  ·  the grade-level roll-up affecting 101,630 teachers  ·  what shape the public deliverable takes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small team runs this with Claude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68112" cy="2121408"/>
          </a:xfrm>
          <a:prstGeom prst="roundRect">
            <a:avLst>
              <a:gd name="adj" fmla="val 4310"/>
            </a:avLst>
          </a:prstGeom>
          <a:solidFill>
            <a:srgbClr val="1E4166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581912"/>
            <a:ext cx="512064" cy="512064"/>
          </a:xfrm>
          <a:prstGeom prst="ellipse">
            <a:avLst/>
          </a:prstGeom>
          <a:solidFill>
            <a:srgbClr val="E8641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09" y="1715049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1600200"/>
            <a:ext cx="4279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source of truth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04672" y="2221992"/>
            <a:ext cx="4956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GitHub repo. CLAUDE.md onboards every teammate — and every Claude session — with the same data hazards and conventions. Agents, evals, and raw snapshots live in-repo, so nothing is tribal knowledge.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72200" y="1325880"/>
            <a:ext cx="5468112" cy="2121408"/>
          </a:xfrm>
          <a:prstGeom prst="roundRect">
            <a:avLst>
              <a:gd name="adj" fmla="val 4310"/>
            </a:avLst>
          </a:prstGeom>
          <a:solidFill>
            <a:srgbClr val="1E4166"/>
          </a:solidFill>
          <a:ln/>
        </p:spPr>
      </p:sp>
      <p:sp>
        <p:nvSpPr>
          <p:cNvPr id="9" name="Shape 6"/>
          <p:cNvSpPr/>
          <p:nvPr/>
        </p:nvSpPr>
        <p:spPr>
          <a:xfrm>
            <a:off x="6428232" y="1581912"/>
            <a:ext cx="512064" cy="512064"/>
          </a:xfrm>
          <a:prstGeom prst="ellipse">
            <a:avLst/>
          </a:prstGeom>
          <a:solidFill>
            <a:srgbClr val="E8641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369" y="1715049"/>
            <a:ext cx="245791" cy="2457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04888" y="1600200"/>
            <a:ext cx="4279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GitHub account? Use a Claude Project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428232" y="2221992"/>
            <a:ext cx="4956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shared Claude Project and upload CLAUDE.md, the decision sheet, and the rubric as project knowledge. Teammates review evidence and make calls in chat; one repo-holder commits the outcomes back.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611880"/>
            <a:ext cx="5468112" cy="2121408"/>
          </a:xfrm>
          <a:prstGeom prst="roundRect">
            <a:avLst>
              <a:gd name="adj" fmla="val 4310"/>
            </a:avLst>
          </a:prstGeom>
          <a:solidFill>
            <a:srgbClr val="1E4166"/>
          </a:solidFill>
          <a:ln/>
        </p:spPr>
      </p:sp>
      <p:sp>
        <p:nvSpPr>
          <p:cNvPr id="14" name="Shape 10"/>
          <p:cNvSpPr/>
          <p:nvPr/>
        </p:nvSpPr>
        <p:spPr>
          <a:xfrm>
            <a:off x="804672" y="3867912"/>
            <a:ext cx="512064" cy="512064"/>
          </a:xfrm>
          <a:prstGeom prst="ellipse">
            <a:avLst/>
          </a:prstGeom>
          <a:solidFill>
            <a:srgbClr val="E8641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09" y="4001049"/>
            <a:ext cx="245791" cy="2457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81328" y="3886200"/>
            <a:ext cx="4279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Delegate by artifact, not by tool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04672" y="4507992"/>
            <a:ext cx="4956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sheet, rubric, matcher — each workstream has its own oracle: a gated eval or a byte-identical build check. Work gets graded before it merges, whoever (or whatever) produced it.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172200" y="3611880"/>
            <a:ext cx="5468112" cy="2121408"/>
          </a:xfrm>
          <a:prstGeom prst="roundRect">
            <a:avLst>
              <a:gd name="adj" fmla="val 4310"/>
            </a:avLst>
          </a:prstGeom>
          <a:solidFill>
            <a:srgbClr val="1E4166"/>
          </a:solidFill>
          <a:ln/>
        </p:spPr>
      </p:sp>
      <p:sp>
        <p:nvSpPr>
          <p:cNvPr id="19" name="Shape 14"/>
          <p:cNvSpPr/>
          <p:nvPr/>
        </p:nvSpPr>
        <p:spPr>
          <a:xfrm>
            <a:off x="6428232" y="3867912"/>
            <a:ext cx="512064" cy="512064"/>
          </a:xfrm>
          <a:prstGeom prst="ellipse">
            <a:avLst/>
          </a:prstGeom>
          <a:solidFill>
            <a:srgbClr val="E8641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369" y="4001049"/>
            <a:ext cx="245791" cy="2457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04888" y="3886200"/>
            <a:ext cx="4279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 gates referee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28232" y="4507992"/>
            <a:ext cx="4956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hard-fail wrong answers, never misses — the same rule for humans and agents. Nobody edits golden cases to pass; if you disagree with a label, bring evidence. That route has already fixed three labels.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done, every week: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evals PASS  ·  data build byte-identical (--check)  ·  every correction logged in-repo, not in someone’s head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2026-08-07T21:00:34Z</dcterms:created>
  <dcterms:modified xsi:type="dcterms:W3CDTF">2026-08-07T21:00:34Z</dcterms:modified>
</cp:coreProperties>
</file>